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4"/>
  </p:sldMasterIdLst>
  <p:sldIdLst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0" autoAdjust="0"/>
    <p:restoredTop sz="94660"/>
  </p:normalViewPr>
  <p:slideViewPr>
    <p:cSldViewPr snapToGrid="0">
      <p:cViewPr varScale="1">
        <p:scale>
          <a:sx n="75" d="100"/>
          <a:sy n="75" d="100"/>
        </p:scale>
        <p:origin x="33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11/21/2025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11/21/2025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11/21/2025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11/21/2025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11/21/2025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11/21/2025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11/21/2025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11/21/2025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11/21/2025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11/21/2025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11/21/2025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11/21/2025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asp.net/" TargetMode="Externa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asp.net/" TargetMode="Externa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9754" y="639097"/>
            <a:ext cx="6253317" cy="3686015"/>
          </a:xfrm>
        </p:spPr>
        <p:txBody>
          <a:bodyPr>
            <a:noAutofit/>
          </a:bodyPr>
          <a:lstStyle/>
          <a:p>
            <a:r>
              <a:rPr lang="en-US" sz="2800" dirty="0"/>
              <a:t>Project Title: Contract Monthly Claim System (CMCS)</a:t>
            </a:r>
            <a:br>
              <a:rPr lang="en-US" sz="2800" dirty="0"/>
            </a:br>
            <a:br>
              <a:rPr lang="en-US" sz="2800" dirty="0"/>
            </a:br>
            <a:r>
              <a:rPr lang="en-US" sz="2800" dirty="0"/>
              <a:t>Kundai Makuzha ST10251297</a:t>
            </a:r>
            <a:br>
              <a:rPr lang="en-US" sz="2800" dirty="0"/>
            </a:br>
            <a:br>
              <a:rPr lang="en-US" sz="2800" dirty="0"/>
            </a:br>
            <a:r>
              <a:rPr lang="en-US" sz="2800" dirty="0"/>
              <a:t>Module: PROG6212 - Programming 2B</a:t>
            </a:r>
            <a:br>
              <a:rPr lang="en-US" sz="2800" dirty="0"/>
            </a:br>
            <a:br>
              <a:rPr lang="en-US" sz="2800" dirty="0"/>
            </a:br>
            <a:r>
              <a:rPr lang="en-US" sz="2800" dirty="0"/>
              <a:t>Part 3: Automation &amp; Enhancement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9753" y="4672739"/>
            <a:ext cx="6269347" cy="1021498"/>
          </a:xfrm>
        </p:spPr>
        <p:txBody>
          <a:bodyPr>
            <a:normAutofit/>
          </a:bodyPr>
          <a:lstStyle/>
          <a:p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5" name="Picture 4" descr="A picture containing building, sitting, bench, side&#10;&#10;Description automatically generated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"/>
            <a:ext cx="4635315" cy="6857999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892168"/>
          </a:xfrm>
        </p:spPr>
        <p:txBody>
          <a:bodyPr anchor="ctr">
            <a:normAutofit fontScale="90000"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sz="1600" i="1" dirty="0">
                <a:solidFill>
                  <a:srgbClr val="FFFFFF"/>
                </a:solidFill>
              </a:rPr>
              <a:t>.</a:t>
            </a:r>
            <a:r>
              <a:rPr lang="en-ZA" sz="1600" b="1" dirty="0">
                <a:solidFill>
                  <a:srgbClr val="0F1115"/>
                </a:solidFill>
                <a:effectLst/>
                <a:latin typeface="quote-cjk-patch"/>
              </a:rPr>
              <a:t>  Project Overview &amp; Part 3 Objectives</a:t>
            </a:r>
            <a:br>
              <a:rPr lang="en-ZA" sz="1600" b="1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en-ZA" sz="1600" b="1" i="0" dirty="0">
                <a:solidFill>
                  <a:srgbClr val="0F1115"/>
                </a:solidFill>
                <a:effectLst/>
                <a:latin typeface="quote-cjk-patch"/>
              </a:rPr>
              <a:t>System Recap:</a:t>
            </a:r>
            <a:br>
              <a:rPr lang="en-ZA" sz="1600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en-ZA" sz="1600" b="0" i="0" dirty="0">
                <a:solidFill>
                  <a:srgbClr val="0F1115"/>
                </a:solidFill>
                <a:effectLst/>
                <a:latin typeface="quote-cjk-patch"/>
              </a:rPr>
              <a:t>.NET web application for contractor lecturers</a:t>
            </a:r>
            <a:br>
              <a:rPr lang="en-ZA" sz="1600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en-ZA" sz="1600" b="0" i="0" dirty="0">
                <a:solidFill>
                  <a:srgbClr val="0F1115"/>
                </a:solidFill>
                <a:effectLst/>
                <a:latin typeface="quote-cjk-patch"/>
              </a:rPr>
              <a:t>Streamlines monthly claim submission and approval</a:t>
            </a:r>
            <a:br>
              <a:rPr lang="en-ZA" sz="1600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en-ZA" sz="1600" b="0" i="0" dirty="0">
                <a:solidFill>
                  <a:srgbClr val="0F1115"/>
                </a:solidFill>
                <a:effectLst/>
                <a:latin typeface="quote-cjk-patch"/>
              </a:rPr>
              <a:t>Multi-role system (Lecturer, Coordinator, Manager, HR)</a:t>
            </a:r>
            <a:br>
              <a:rPr lang="en-ZA" sz="1600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en-ZA" sz="1600" b="1" i="0" dirty="0">
                <a:solidFill>
                  <a:srgbClr val="0F1115"/>
                </a:solidFill>
                <a:effectLst/>
                <a:latin typeface="quote-cjk-patch"/>
              </a:rPr>
              <a:t>Part 3 Core Objectives:</a:t>
            </a:r>
            <a:br>
              <a:rPr lang="en-ZA" sz="1600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en-ZA" sz="1600" b="0" i="0" dirty="0">
                <a:solidFill>
                  <a:srgbClr val="0F1115"/>
                </a:solidFill>
                <a:effectLst/>
                <a:latin typeface="quote-cjk-patch"/>
              </a:rPr>
              <a:t>✅ Implement HR "Super User" role</a:t>
            </a:r>
            <a:br>
              <a:rPr lang="en-ZA" sz="1600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en-ZA" sz="1600" b="0" i="0" dirty="0">
                <a:solidFill>
                  <a:srgbClr val="0F1115"/>
                </a:solidFill>
                <a:effectLst/>
                <a:latin typeface="quote-cjk-patch"/>
              </a:rPr>
              <a:t>✅ Add login/authentication system</a:t>
            </a:r>
            <a:br>
              <a:rPr lang="en-ZA" sz="1600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en-ZA" sz="1600" b="0" i="0" dirty="0">
                <a:solidFill>
                  <a:srgbClr val="0F1115"/>
                </a:solidFill>
                <a:effectLst/>
                <a:latin typeface="quote-cjk-patch"/>
              </a:rPr>
              <a:t>✅ Automate calculations &amp; validations</a:t>
            </a:r>
            <a:br>
              <a:rPr lang="en-ZA" sz="1600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en-ZA" sz="1600" b="0" i="0" dirty="0">
                <a:solidFill>
                  <a:srgbClr val="0F1115"/>
                </a:solidFill>
                <a:effectLst/>
                <a:latin typeface="quote-cjk-patch"/>
              </a:rPr>
              <a:t>✅ Enhance security with role-based access</a:t>
            </a:r>
            <a:br>
              <a:rPr lang="en-ZA" sz="1600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en-ZA" sz="1600" b="0" i="0" dirty="0">
                <a:solidFill>
                  <a:srgbClr val="0F1115"/>
                </a:solidFill>
                <a:effectLst/>
                <a:latin typeface="quote-cjk-patch"/>
              </a:rPr>
              <a:t>✅ Generate reports &amp; invoices</a:t>
            </a:r>
            <a:br>
              <a:rPr lang="en-ZA" sz="1600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en-ZA" sz="1600" b="0" i="0" dirty="0">
                <a:solidFill>
                  <a:srgbClr val="0F1115"/>
                </a:solidFill>
                <a:effectLst/>
                <a:latin typeface="quote-cjk-patch"/>
              </a:rPr>
              <a:t>✅ Address all Part 2 feedback</a:t>
            </a:r>
            <a:br>
              <a:rPr lang="en-ZA" sz="1050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en-US" sz="4800" i="1" dirty="0">
                <a:solidFill>
                  <a:srgbClr val="FFFFFF"/>
                </a:solidFill>
              </a:rPr>
              <a:t>”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5225240"/>
            <a:ext cx="10058400" cy="1143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-</a:t>
            </a: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8FB705F-8155-6A35-EB96-9AA74759F5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8500" y="86067"/>
            <a:ext cx="6197600" cy="5710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14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30CD2-4F6A-460D-8BE9-436480716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Responding to Part 1 Feedback</a:t>
            </a:r>
            <a:br>
              <a:rPr lang="en-US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en-ZA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DFB153D6-FA5D-716F-235F-9E566BAD462F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259030910"/>
              </p:ext>
            </p:extLst>
          </p:nvPr>
        </p:nvGraphicFramePr>
        <p:xfrm>
          <a:off x="1096963" y="2857977"/>
          <a:ext cx="4640262" cy="2273934"/>
        </p:xfrm>
        <a:graphic>
          <a:graphicData uri="http://schemas.openxmlformats.org/drawingml/2006/table">
            <a:tbl>
              <a:tblPr/>
              <a:tblGrid>
                <a:gridCol w="2320131">
                  <a:extLst>
                    <a:ext uri="{9D8B030D-6E8A-4147-A177-3AD203B41FA5}">
                      <a16:colId xmlns:a16="http://schemas.microsoft.com/office/drawing/2014/main" val="2337946606"/>
                    </a:ext>
                  </a:extLst>
                </a:gridCol>
                <a:gridCol w="2320131">
                  <a:extLst>
                    <a:ext uri="{9D8B030D-6E8A-4147-A177-3AD203B41FA5}">
                      <a16:colId xmlns:a16="http://schemas.microsoft.com/office/drawing/2014/main" val="4073083156"/>
                    </a:ext>
                  </a:extLst>
                </a:gridCol>
              </a:tblGrid>
              <a:tr h="279732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ZA" sz="1200" b="1">
                          <a:effectLst/>
                          <a:latin typeface="quote-cjk-patch"/>
                        </a:rPr>
                        <a:t>Part 1 Feedback</a:t>
                      </a:r>
                      <a:endParaRPr lang="en-ZA" sz="1200" b="0">
                        <a:effectLst/>
                        <a:latin typeface="quote-cjk-patch"/>
                      </a:endParaRPr>
                    </a:p>
                  </a:txBody>
                  <a:tcPr marL="59237" marR="98729" marT="61706" marB="6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ZA" sz="1200" b="1">
                          <a:effectLst/>
                          <a:latin typeface="quote-cjk-patch"/>
                        </a:rPr>
                        <a:t>Part 3 Implementation</a:t>
                      </a:r>
                      <a:endParaRPr lang="en-ZA" sz="1200" b="0">
                        <a:effectLst/>
                        <a:latin typeface="quote-cjk-patch"/>
                      </a:endParaRPr>
                    </a:p>
                  </a:txBody>
                  <a:tcPr marL="98729" marR="98729" marT="61706" marB="6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1049994"/>
                  </a:ext>
                </a:extLst>
              </a:tr>
              <a:tr h="54712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200" b="0" dirty="0">
                          <a:effectLst/>
                          <a:latin typeface="quote-cjk-patch"/>
                        </a:rPr>
                        <a:t> Missing Coordinator/Manager entities in UML</a:t>
                      </a:r>
                    </a:p>
                  </a:txBody>
                  <a:tcPr marL="59237" marR="98729" marT="61706" marB="6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1200" b="0" dirty="0">
                          <a:effectLst/>
                          <a:latin typeface="quote-cjk-patch"/>
                        </a:rPr>
                        <a:t> Added </a:t>
                      </a:r>
                      <a:r>
                        <a:rPr lang="en-US" sz="1200" b="0" dirty="0">
                          <a:effectLst/>
                          <a:latin typeface="Menlo"/>
                        </a:rPr>
                        <a:t>ApplicationUser</a:t>
                      </a:r>
                      <a:r>
                        <a:rPr lang="en-US" sz="1200" b="0" dirty="0">
                          <a:effectLst/>
                          <a:latin typeface="quote-cjk-patch"/>
                        </a:rPr>
                        <a:t> inheritance with role separation</a:t>
                      </a:r>
                    </a:p>
                  </a:txBody>
                  <a:tcPr marL="98729" marR="59237" marT="61706" marB="6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7630718"/>
                  </a:ext>
                </a:extLst>
              </a:tr>
              <a:tr h="43605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ZA" sz="1200" b="0" dirty="0">
                          <a:effectLst/>
                          <a:latin typeface="quote-cjk-patch"/>
                        </a:rPr>
                        <a:t>Unrealistic 21-hour project timeline</a:t>
                      </a:r>
                    </a:p>
                  </a:txBody>
                  <a:tcPr marL="59237" marR="98729" marT="61706" marB="6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200" b="0" dirty="0">
                          <a:effectLst/>
                          <a:latin typeface="quote-cjk-patch"/>
                        </a:rPr>
                        <a:t> Implemented proper sprint planning with 45+ hours</a:t>
                      </a:r>
                    </a:p>
                  </a:txBody>
                  <a:tcPr marL="98729" marR="59237" marT="61706" marB="6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5668718"/>
                  </a:ext>
                </a:extLst>
              </a:tr>
              <a:tr h="43605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ZA" sz="1200" b="0" dirty="0">
                          <a:effectLst/>
                          <a:latin typeface="quote-cjk-patch"/>
                        </a:rPr>
                        <a:t> Incomplete database design</a:t>
                      </a:r>
                    </a:p>
                  </a:txBody>
                  <a:tcPr marL="59237" marR="98729" marT="61706" marB="6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200" b="0" dirty="0">
                          <a:effectLst/>
                          <a:latin typeface="quote-cjk-patch"/>
                        </a:rPr>
                        <a:t> Enhanced with Identity tables and user relationships</a:t>
                      </a:r>
                    </a:p>
                  </a:txBody>
                  <a:tcPr marL="98729" marR="59237" marT="61706" marB="6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2657413"/>
                  </a:ext>
                </a:extLst>
              </a:tr>
            </a:tbl>
          </a:graphicData>
        </a:graphic>
      </p:graphicFrame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2886FEC-2002-D8C9-1D6B-A65676241F7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688" y="2159000"/>
            <a:ext cx="4638675" cy="3140146"/>
          </a:xfrm>
        </p:spPr>
      </p:pic>
    </p:spTree>
    <p:extLst>
      <p:ext uri="{BB962C8B-B14F-4D97-AF65-F5344CB8AC3E}">
        <p14:creationId xmlns:p14="http://schemas.microsoft.com/office/powerpoint/2010/main" val="12462594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21C06-EC18-33E7-F347-7C7B831FB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Responding to Part 2 Feedback - Major Issues Fixed</a:t>
            </a:r>
            <a:endParaRPr lang="en-ZA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0C36635-4A59-1577-BF25-5D13DFEA56D3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717258556"/>
              </p:ext>
            </p:extLst>
          </p:nvPr>
        </p:nvGraphicFramePr>
        <p:xfrm>
          <a:off x="1096963" y="2357756"/>
          <a:ext cx="4640262" cy="3274376"/>
        </p:xfrm>
        <a:graphic>
          <a:graphicData uri="http://schemas.openxmlformats.org/drawingml/2006/table">
            <a:tbl>
              <a:tblPr/>
              <a:tblGrid>
                <a:gridCol w="2320131">
                  <a:extLst>
                    <a:ext uri="{9D8B030D-6E8A-4147-A177-3AD203B41FA5}">
                      <a16:colId xmlns:a16="http://schemas.microsoft.com/office/drawing/2014/main" val="4084842264"/>
                    </a:ext>
                  </a:extLst>
                </a:gridCol>
                <a:gridCol w="2320131">
                  <a:extLst>
                    <a:ext uri="{9D8B030D-6E8A-4147-A177-3AD203B41FA5}">
                      <a16:colId xmlns:a16="http://schemas.microsoft.com/office/drawing/2014/main" val="2949213144"/>
                    </a:ext>
                  </a:extLst>
                </a:gridCol>
              </a:tblGrid>
              <a:tr h="279732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ZA" sz="1200" b="1">
                          <a:effectLst/>
                          <a:latin typeface="quote-cjk-patch"/>
                        </a:rPr>
                        <a:t>Part 2 Issue</a:t>
                      </a:r>
                      <a:endParaRPr lang="en-ZA" sz="1200" b="0">
                        <a:effectLst/>
                        <a:latin typeface="quote-cjk-patch"/>
                      </a:endParaRPr>
                    </a:p>
                  </a:txBody>
                  <a:tcPr marL="59237" marR="98729" marT="61706" marB="6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ZA" sz="1200" b="1">
                          <a:effectLst/>
                          <a:latin typeface="quote-cjk-patch"/>
                        </a:rPr>
                        <a:t>Solution Implemented</a:t>
                      </a:r>
                      <a:endParaRPr lang="en-ZA" sz="1200" b="0">
                        <a:effectLst/>
                        <a:latin typeface="quote-cjk-patch"/>
                      </a:endParaRPr>
                    </a:p>
                  </a:txBody>
                  <a:tcPr marL="98729" marR="98729" marT="61706" marB="6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7908566"/>
                  </a:ext>
                </a:extLst>
              </a:tr>
              <a:tr h="43605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ZA" sz="1200" b="0" dirty="0">
                          <a:effectLst/>
                          <a:latin typeface="quote-cjk-patch"/>
                        </a:rPr>
                        <a:t>No login system</a:t>
                      </a:r>
                    </a:p>
                  </a:txBody>
                  <a:tcPr marL="59237" marR="98729" marT="61706" marB="6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200" b="0" dirty="0">
                          <a:effectLst/>
                          <a:latin typeface="quote-cjk-patch"/>
                        </a:rPr>
                        <a:t> </a:t>
                      </a:r>
                      <a:r>
                        <a:rPr lang="en-US" sz="1200" b="0" u="none" strike="noStrike" dirty="0">
                          <a:solidFill>
                            <a:srgbClr val="3964FE"/>
                          </a:solidFill>
                          <a:effectLst/>
                          <a:latin typeface="quote-cjk-patch"/>
                          <a:hlinkClick r:id="rId2"/>
                        </a:rPr>
                        <a:t>ASP.NET</a:t>
                      </a:r>
                      <a:r>
                        <a:rPr lang="en-US" sz="1200" b="0" dirty="0">
                          <a:effectLst/>
                          <a:latin typeface="quote-cjk-patch"/>
                        </a:rPr>
                        <a:t> Identity with role-based authentication</a:t>
                      </a:r>
                    </a:p>
                  </a:txBody>
                  <a:tcPr marL="98729" marR="59237" marT="61706" marB="6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500897"/>
                  </a:ext>
                </a:extLst>
              </a:tr>
              <a:tr h="43605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ZA" sz="1200" b="0" dirty="0">
                          <a:effectLst/>
                          <a:latin typeface="quote-cjk-patch"/>
                        </a:rPr>
                        <a:t>Manual rate entry</a:t>
                      </a:r>
                    </a:p>
                  </a:txBody>
                  <a:tcPr marL="59237" marR="98729" marT="61706" marB="6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200" b="0" dirty="0">
                          <a:effectLst/>
                          <a:latin typeface="quote-cjk-patch"/>
                        </a:rPr>
                        <a:t> Hourly rate pulled from HR-set user profile</a:t>
                      </a:r>
                    </a:p>
                  </a:txBody>
                  <a:tcPr marL="98729" marR="59237" marT="61706" marB="6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7068157"/>
                  </a:ext>
                </a:extLst>
              </a:tr>
              <a:tr h="43605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ZA" sz="1200" b="0" dirty="0">
                          <a:effectLst/>
                          <a:latin typeface="quote-cjk-patch"/>
                        </a:rPr>
                        <a:t> No document viewing</a:t>
                      </a:r>
                    </a:p>
                  </a:txBody>
                  <a:tcPr marL="59237" marR="98729" marT="61706" marB="6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ZA" sz="1200" b="0" dirty="0">
                          <a:effectLst/>
                          <a:latin typeface="quote-cjk-patch"/>
                        </a:rPr>
                        <a:t> Secure document download functionality</a:t>
                      </a:r>
                    </a:p>
                  </a:txBody>
                  <a:tcPr marL="98729" marR="59237" marT="61706" marB="6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4868310"/>
                  </a:ext>
                </a:extLst>
              </a:tr>
              <a:tr h="43605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ZA" sz="1200" b="0" dirty="0">
                          <a:effectLst/>
                          <a:latin typeface="quote-cjk-patch"/>
                        </a:rPr>
                        <a:t> Poor error handling</a:t>
                      </a:r>
                    </a:p>
                  </a:txBody>
                  <a:tcPr marL="59237" marR="98729" marT="61706" marB="6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ZA" sz="1200" b="0" dirty="0">
                          <a:effectLst/>
                          <a:latin typeface="quote-cjk-patch"/>
                        </a:rPr>
                        <a:t>Comprehensive validation &amp; user-friendly error messages</a:t>
                      </a:r>
                    </a:p>
                  </a:txBody>
                  <a:tcPr marL="98729" marR="59237" marT="61706" marB="6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8142746"/>
                  </a:ext>
                </a:extLst>
              </a:tr>
              <a:tr h="43605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ZA" sz="1200" b="0" dirty="0">
                          <a:effectLst/>
                          <a:latin typeface="quote-cjk-patch"/>
                        </a:rPr>
                        <a:t> No unit tests</a:t>
                      </a:r>
                    </a:p>
                  </a:txBody>
                  <a:tcPr marL="59237" marR="98729" marT="61706" marB="6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200" b="0" dirty="0">
                          <a:effectLst/>
                          <a:latin typeface="quote-cjk-patch"/>
                        </a:rPr>
                        <a:t> </a:t>
                      </a:r>
                      <a:r>
                        <a:rPr lang="en-US" sz="1200" b="0" dirty="0" err="1">
                          <a:effectLst/>
                          <a:latin typeface="quote-cjk-patch"/>
                        </a:rPr>
                        <a:t>xUnit</a:t>
                      </a:r>
                      <a:r>
                        <a:rPr lang="en-US" sz="1200" b="0" dirty="0">
                          <a:effectLst/>
                          <a:latin typeface="quote-cjk-patch"/>
                        </a:rPr>
                        <a:t> tests covering key functionalities</a:t>
                      </a:r>
                    </a:p>
                  </a:txBody>
                  <a:tcPr marL="98729" marR="59237" marT="61706" marB="6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5485246"/>
                  </a:ext>
                </a:extLst>
              </a:tr>
            </a:tbl>
          </a:graphicData>
        </a:graphic>
      </p:graphicFrame>
      <p:pic>
        <p:nvPicPr>
          <p:cNvPr id="9" name="Content Placeholder 8" descr="A screenshot of a login screen&#10;&#10;AI-generated content may be incorrect.">
            <a:extLst>
              <a:ext uri="{FF2B5EF4-FFF2-40B4-BE49-F238E27FC236}">
                <a16:creationId xmlns:a16="http://schemas.microsoft.com/office/drawing/2014/main" id="{58594E34-F475-0883-EF16-F6605E8CB4C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688" y="2235200"/>
            <a:ext cx="4638675" cy="3606800"/>
          </a:xfrm>
        </p:spPr>
      </p:pic>
    </p:spTree>
    <p:extLst>
      <p:ext uri="{BB962C8B-B14F-4D97-AF65-F5344CB8AC3E}">
        <p14:creationId xmlns:p14="http://schemas.microsoft.com/office/powerpoint/2010/main" val="10884070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03B17-CE9A-B974-3393-DD6408C3A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b">
            <a:normAutofit/>
          </a:bodyPr>
          <a:lstStyle/>
          <a:p>
            <a:pPr>
              <a:spcBef>
                <a:spcPts val="2400"/>
              </a:spcBef>
              <a:spcAft>
                <a:spcPts val="1200"/>
              </a:spcAft>
            </a:pPr>
            <a:r>
              <a:rPr lang="en-US" b="1">
                <a:effectLst/>
              </a:rPr>
              <a:t>Key Feature 1 - HR Super User</a:t>
            </a:r>
            <a:br>
              <a:rPr lang="en-US" b="1">
                <a:effectLst/>
              </a:rPr>
            </a:b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CA19F2-297E-5949-104E-AE13E4DA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buNone/>
            </a:pPr>
            <a:r>
              <a:rPr lang="en-ZA" b="1" i="0">
                <a:effectLst/>
              </a:rPr>
              <a:t>Automation &amp; Management:</a:t>
            </a:r>
            <a:endParaRPr lang="en-ZA" b="0" i="0">
              <a:effectLst/>
            </a:endParaRPr>
          </a:p>
          <a:p>
            <a:pPr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b="1" i="0">
                <a:effectLst/>
              </a:rPr>
              <a:t>User Management:</a:t>
            </a:r>
            <a:r>
              <a:rPr lang="en-ZA" b="0" i="0">
                <a:effectLst/>
              </a:rPr>
              <a:t> Full CRUD operations for all users</a:t>
            </a:r>
          </a:p>
          <a:p>
            <a:pPr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b="1" i="0">
                <a:effectLst/>
              </a:rPr>
              <a:t>Profile Setup:</a:t>
            </a:r>
            <a:r>
              <a:rPr lang="en-ZA" b="0" i="0">
                <a:effectLst/>
              </a:rPr>
              <a:t> HR sets all user details (name, email, hourly rate)</a:t>
            </a:r>
          </a:p>
          <a:p>
            <a:pPr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b="1" i="0">
                <a:effectLst/>
              </a:rPr>
              <a:t>Report Generation:</a:t>
            </a:r>
            <a:r>
              <a:rPr lang="en-ZA" b="0" i="0">
                <a:effectLst/>
              </a:rPr>
              <a:t> LINQ queries for claim reports</a:t>
            </a:r>
          </a:p>
          <a:p>
            <a:pPr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b="1" i="0">
                <a:effectLst/>
              </a:rPr>
              <a:t>PDF Export:</a:t>
            </a:r>
            <a:r>
              <a:rPr lang="en-ZA" b="0" i="0">
                <a:effectLst/>
              </a:rPr>
              <a:t> Automated invoice generation</a:t>
            </a:r>
          </a:p>
          <a:p>
            <a:endParaRPr lang="en-ZA" dirty="0"/>
          </a:p>
        </p:txBody>
      </p:sp>
      <p:pic>
        <p:nvPicPr>
          <p:cNvPr id="10" name="Content Placeholder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C773FAB-13DD-668E-5C90-E516951C14F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811" y="2120900"/>
            <a:ext cx="5047414" cy="3975099"/>
          </a:xfrm>
        </p:spPr>
      </p:pic>
    </p:spTree>
    <p:extLst>
      <p:ext uri="{BB962C8B-B14F-4D97-AF65-F5344CB8AC3E}">
        <p14:creationId xmlns:p14="http://schemas.microsoft.com/office/powerpoint/2010/main" val="31969069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9551D-D857-0FF2-F1B5-9CE19703D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</a:pPr>
            <a:r>
              <a:rPr lang="en-ZA" b="1">
                <a:solidFill>
                  <a:srgbClr val="0F1115"/>
                </a:solidFill>
                <a:effectLst/>
                <a:latin typeface="quote-cjk-patch"/>
              </a:rPr>
              <a:t> Feature 2 - Lecturer Automation</a:t>
            </a:r>
            <a:br>
              <a:rPr lang="en-ZA" b="1">
                <a:solidFill>
                  <a:srgbClr val="0F1115"/>
                </a:solidFill>
                <a:effectLst/>
                <a:latin typeface="quote-cjk-patch"/>
              </a:rPr>
            </a:b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B292EE-6630-EBD3-FDDA-EF62F928818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ZA" b="1" i="0" dirty="0">
                <a:solidFill>
                  <a:srgbClr val="0F1115"/>
                </a:solidFill>
                <a:effectLst/>
                <a:latin typeface="quote-cjk-patch"/>
              </a:rPr>
              <a:t>Enhanced Claim Submission:</a:t>
            </a:r>
            <a:endParaRPr lang="en-ZA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b="1" i="0" dirty="0">
                <a:solidFill>
                  <a:srgbClr val="0F1115"/>
                </a:solidFill>
                <a:effectLst/>
                <a:latin typeface="quote-cjk-patch"/>
              </a:rPr>
              <a:t>Auto-Population:</a:t>
            </a:r>
            <a:r>
              <a:rPr lang="en-ZA" b="0" i="0" dirty="0">
                <a:solidFill>
                  <a:srgbClr val="0F1115"/>
                </a:solidFill>
                <a:effectLst/>
                <a:latin typeface="quote-cjk-patch"/>
              </a:rPr>
              <a:t> Name &amp; rate from user profile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b="1" i="0" dirty="0">
                <a:solidFill>
                  <a:srgbClr val="0F1115"/>
                </a:solidFill>
                <a:effectLst/>
                <a:latin typeface="quote-cjk-patch"/>
              </a:rPr>
              <a:t>Real-time Calculation:</a:t>
            </a:r>
            <a:r>
              <a:rPr lang="en-ZA" b="0" i="0" dirty="0">
                <a:solidFill>
                  <a:srgbClr val="0F1115"/>
                </a:solidFill>
                <a:effectLst/>
                <a:latin typeface="quote-cjk-patch"/>
              </a:rPr>
              <a:t> JavaScript auto-calculation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b="1" i="0" dirty="0">
                <a:solidFill>
                  <a:srgbClr val="0F1115"/>
                </a:solidFill>
                <a:effectLst/>
                <a:latin typeface="quote-cjk-patch"/>
              </a:rPr>
              <a:t>Validation:</a:t>
            </a:r>
            <a:r>
              <a:rPr lang="en-ZA" b="0" i="0" dirty="0">
                <a:solidFill>
                  <a:srgbClr val="0F1115"/>
                </a:solidFill>
                <a:effectLst/>
                <a:latin typeface="quote-cjk-patch"/>
              </a:rPr>
              <a:t> Server-side hour limits (max 180 hours/month)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b="1" i="0" dirty="0">
                <a:solidFill>
                  <a:srgbClr val="0F1115"/>
                </a:solidFill>
                <a:effectLst/>
                <a:latin typeface="quote-cjk-patch"/>
              </a:rPr>
              <a:t>Document Upload:</a:t>
            </a:r>
            <a:r>
              <a:rPr lang="en-ZA" b="0" i="0" dirty="0">
                <a:solidFill>
                  <a:srgbClr val="0F1115"/>
                </a:solidFill>
                <a:effectLst/>
                <a:latin typeface="quote-cjk-patch"/>
              </a:rPr>
              <a:t> Secure file storage with view access</a:t>
            </a:r>
          </a:p>
          <a:p>
            <a:endParaRPr lang="en-ZA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4565261-2742-C4DF-FDD3-312206654A0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Lecturer claim form showing auto-calculation, validation errors</a:t>
            </a:r>
            <a:endParaRPr lang="en-ZA" dirty="0"/>
          </a:p>
        </p:txBody>
      </p:sp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B69354B-31A6-88FF-988D-0E002DE173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5700" y="2120900"/>
            <a:ext cx="5928572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5860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4DC77-F3E8-7C15-E94A-2F5BD2674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b">
            <a:normAutofit/>
          </a:bodyPr>
          <a:lstStyle/>
          <a:p>
            <a:pPr>
              <a:spcBef>
                <a:spcPts val="2400"/>
              </a:spcBef>
              <a:spcAft>
                <a:spcPts val="1200"/>
              </a:spcAft>
            </a:pPr>
            <a:r>
              <a:rPr lang="en-ZA" b="1">
                <a:effectLst/>
              </a:rPr>
              <a:t> Enhanced Approval Workflow</a:t>
            </a:r>
            <a:br>
              <a:rPr lang="en-ZA" b="1">
                <a:effectLst/>
              </a:rPr>
            </a:br>
            <a:endParaRPr lang="en-ZA"/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64DAF37-E876-7FC8-8428-4A16DB78493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" y="2823463"/>
            <a:ext cx="4639736" cy="2343067"/>
          </a:xfrm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65CA85-3B43-4DA3-F6C1-F083A36A40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>
                <a:effectLst/>
              </a:rPr>
              <a:t>Separate Coordinator &amp; Manager Views:</a:t>
            </a:r>
            <a:endParaRPr lang="en-US" b="0" i="0">
              <a:effectLst/>
            </a:endParaRPr>
          </a:p>
          <a:p>
            <a:pPr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>
                <a:effectLst/>
              </a:rPr>
              <a:t>Dual Approval:</a:t>
            </a:r>
            <a:r>
              <a:rPr lang="en-US" b="0" i="0">
                <a:effectLst/>
              </a:rPr>
              <a:t> Both roles must approve claims</a:t>
            </a:r>
          </a:p>
          <a:p>
            <a:pPr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>
                <a:effectLst/>
              </a:rPr>
              <a:t>Document Access:</a:t>
            </a:r>
            <a:r>
              <a:rPr lang="en-US" b="0" i="0">
                <a:effectLst/>
              </a:rPr>
              <a:t> View supporting documents before approval</a:t>
            </a:r>
          </a:p>
          <a:p>
            <a:pPr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>
                <a:effectLst/>
              </a:rPr>
              <a:t>Status Tracking:</a:t>
            </a:r>
            <a:r>
              <a:rPr lang="en-US" b="0" i="0">
                <a:effectLst/>
              </a:rPr>
              <a:t> Real-time status updates</a:t>
            </a:r>
          </a:p>
          <a:p>
            <a:pPr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>
                <a:effectLst/>
              </a:rPr>
              <a:t>Security:</a:t>
            </a:r>
            <a:r>
              <a:rPr lang="en-US" b="0" i="0">
                <a:effectLst/>
              </a:rPr>
              <a:t> Role-specific authorization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2419021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5E315-17E2-17A4-FEDE-3E608B20A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b="1" dirty="0">
                <a:solidFill>
                  <a:srgbClr val="0F1115"/>
                </a:solidFill>
                <a:latin typeface="quote-cjk-patch"/>
              </a:rPr>
              <a:t>Technical Architecture</a:t>
            </a:r>
            <a:br>
              <a:rPr lang="en-ZA" b="1" dirty="0">
                <a:solidFill>
                  <a:srgbClr val="0F1115"/>
                </a:solidFill>
                <a:latin typeface="quote-cjk-patch"/>
              </a:rPr>
            </a:b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BD0012-C020-B537-17FF-B78BD07B2A0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ZA" b="1" i="0" dirty="0">
                <a:solidFill>
                  <a:srgbClr val="0F1115"/>
                </a:solidFill>
                <a:effectLst/>
                <a:latin typeface="quote-cjk-patch"/>
              </a:rPr>
              <a:t>Technology Stack:</a:t>
            </a:r>
            <a:endParaRPr lang="en-ZA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b="1" i="0" dirty="0">
                <a:solidFill>
                  <a:srgbClr val="0F1115"/>
                </a:solidFill>
                <a:effectLst/>
                <a:latin typeface="quote-cjk-patch"/>
              </a:rPr>
              <a:t>Backend:</a:t>
            </a:r>
            <a:r>
              <a:rPr lang="en-ZA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en-ZA" b="0" i="0" u="none" strike="noStrike" dirty="0">
                <a:solidFill>
                  <a:srgbClr val="3964FE"/>
                </a:solidFill>
                <a:effectLst/>
                <a:latin typeface="quote-cjk-patch"/>
                <a:hlinkClick r:id="rId2"/>
              </a:rPr>
              <a:t>ASP.NET</a:t>
            </a:r>
            <a:r>
              <a:rPr lang="en-ZA" b="0" i="0" dirty="0">
                <a:solidFill>
                  <a:srgbClr val="0F1115"/>
                </a:solidFill>
                <a:effectLst/>
                <a:latin typeface="quote-cjk-patch"/>
              </a:rPr>
              <a:t> Core MVC, C#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b="1" i="0" dirty="0">
                <a:solidFill>
                  <a:srgbClr val="0F1115"/>
                </a:solidFill>
                <a:effectLst/>
                <a:latin typeface="quote-cjk-patch"/>
              </a:rPr>
              <a:t>Database:</a:t>
            </a:r>
            <a:r>
              <a:rPr lang="en-ZA" b="0" i="0" dirty="0">
                <a:solidFill>
                  <a:srgbClr val="0F1115"/>
                </a:solidFill>
                <a:effectLst/>
                <a:latin typeface="quote-cjk-patch"/>
              </a:rPr>
              <a:t> Entity Framework Core with SQL Server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b="1" i="0" dirty="0">
                <a:solidFill>
                  <a:srgbClr val="0F1115"/>
                </a:solidFill>
                <a:effectLst/>
                <a:latin typeface="quote-cjk-patch"/>
              </a:rPr>
              <a:t>Authentication:</a:t>
            </a:r>
            <a:r>
              <a:rPr lang="en-ZA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en-ZA" b="0" i="0" u="none" strike="noStrike" dirty="0">
                <a:solidFill>
                  <a:srgbClr val="3964FE"/>
                </a:solidFill>
                <a:effectLst/>
                <a:latin typeface="quote-cjk-patch"/>
                <a:hlinkClick r:id="rId2"/>
              </a:rPr>
              <a:t>ASP.NET</a:t>
            </a:r>
            <a:r>
              <a:rPr lang="en-ZA" b="0" i="0" dirty="0">
                <a:solidFill>
                  <a:srgbClr val="0F1115"/>
                </a:solidFill>
                <a:effectLst/>
                <a:latin typeface="quote-cjk-patch"/>
              </a:rPr>
              <a:t> Identity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b="1" i="0" dirty="0">
                <a:solidFill>
                  <a:srgbClr val="0F1115"/>
                </a:solidFill>
                <a:effectLst/>
                <a:latin typeface="quote-cjk-patch"/>
              </a:rPr>
              <a:t>Frontend:</a:t>
            </a:r>
            <a:r>
              <a:rPr lang="en-ZA" b="0" i="0" dirty="0">
                <a:solidFill>
                  <a:srgbClr val="0F1115"/>
                </a:solidFill>
                <a:effectLst/>
                <a:latin typeface="quote-cjk-patch"/>
              </a:rPr>
              <a:t> Razor Pages, JavaScript/jQuery, Bootstrap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b="1" i="0" dirty="0">
                <a:solidFill>
                  <a:srgbClr val="0F1115"/>
                </a:solidFill>
                <a:effectLst/>
                <a:latin typeface="quote-cjk-patch"/>
              </a:rPr>
              <a:t>Reporting:</a:t>
            </a:r>
            <a:r>
              <a:rPr lang="en-ZA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en-ZA" b="0" i="0" dirty="0" err="1">
                <a:solidFill>
                  <a:srgbClr val="0F1115"/>
                </a:solidFill>
                <a:effectLst/>
                <a:latin typeface="quote-cjk-patch"/>
              </a:rPr>
              <a:t>QuestPDF</a:t>
            </a:r>
            <a:r>
              <a:rPr lang="en-ZA" b="0" i="0" dirty="0">
                <a:solidFill>
                  <a:srgbClr val="0F1115"/>
                </a:solidFill>
                <a:effectLst/>
                <a:latin typeface="quote-cjk-patch"/>
              </a:rPr>
              <a:t> for PDF generation</a:t>
            </a:r>
          </a:p>
          <a:p>
            <a:endParaRPr lang="en-ZA" dirty="0"/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1C78AA1-9687-E060-918F-1A74018C511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1722" y="2120900"/>
            <a:ext cx="2448607" cy="3748088"/>
          </a:xfrm>
        </p:spPr>
      </p:pic>
    </p:spTree>
    <p:extLst>
      <p:ext uri="{BB962C8B-B14F-4D97-AF65-F5344CB8AC3E}">
        <p14:creationId xmlns:p14="http://schemas.microsoft.com/office/powerpoint/2010/main" val="27214332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C3886-4DE6-58AF-8DEF-1610CDC1D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F1115"/>
                </a:solidFill>
                <a:latin typeface="quote-cjk-patch"/>
              </a:rPr>
              <a:t>: Version Control - GitHub Commits</a:t>
            </a:r>
            <a:br>
              <a:rPr lang="en-US" b="1" dirty="0">
                <a:solidFill>
                  <a:srgbClr val="0F1115"/>
                </a:solidFill>
                <a:latin typeface="quote-cjk-patch"/>
              </a:rPr>
            </a:b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C4C14B-76DF-9744-5426-F188DF55062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Improved Commit Practice: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Frequency: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 commits for Part 3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Descriptive Messages: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Clear, action-oriented commits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Feature-based: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Logical commit grouping</a:t>
            </a:r>
          </a:p>
          <a:p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DA8C748-D7C3-242A-E086-21C7CD11950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516688" y="2120900"/>
            <a:ext cx="4638675" cy="3175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81719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WO.pptx" id="{80AA9D2D-EE59-4148-A11E-A51EEE828B28}" vid="{AEAFD717-D3C8-4034-8F7E-D5220B0CCEB8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F4F4D41-822D-40F2-A7AC-E4E6CB36CA7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9DAD249-BF80-48EF-9AFB-36A11BCDC2C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5A59D56-2157-4202-9D02-F44E447A24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{08DB5CDF-F947-43B3-81FC-C730F9387DE0}tf56160789_win32</Template>
  <TotalTime>87</TotalTime>
  <Words>453</Words>
  <Application>Microsoft Office PowerPoint</Application>
  <PresentationFormat>Widescreen</PresentationFormat>
  <Paragraphs>56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Bookman Old Style</vt:lpstr>
      <vt:lpstr>Calibri</vt:lpstr>
      <vt:lpstr>Franklin Gothic Book</vt:lpstr>
      <vt:lpstr>Menlo</vt:lpstr>
      <vt:lpstr>quote-cjk-patch</vt:lpstr>
      <vt:lpstr>Custom</vt:lpstr>
      <vt:lpstr>Project Title: Contract Monthly Claim System (CMCS)  Kundai Makuzha ST10251297  Module: PROG6212 - Programming 2B  Part 3: Automation &amp; Enhancement</vt:lpstr>
      <vt:lpstr>.  Project Overview &amp; Part 3 Objectives System Recap: .NET web application for contractor lecturers Streamlines monthly claim submission and approval Multi-role system (Lecturer, Coordinator, Manager, HR) Part 3 Core Objectives: ✅ Implement HR "Super User" role ✅ Add login/authentication system ✅ Automate calculations &amp; validations ✅ Enhance security with role-based access ✅ Generate reports &amp; invoices ✅ Address all Part 2 feedback ”</vt:lpstr>
      <vt:lpstr>Responding to Part 1 Feedback </vt:lpstr>
      <vt:lpstr>Responding to Part 2 Feedback - Major Issues Fixed</vt:lpstr>
      <vt:lpstr>Key Feature 1 - HR Super User </vt:lpstr>
      <vt:lpstr> Feature 2 - Lecturer Automation </vt:lpstr>
      <vt:lpstr> Enhanced Approval Workflow </vt:lpstr>
      <vt:lpstr>Technical Architecture </vt:lpstr>
      <vt:lpstr>: Version Control - GitHub Commits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Kundai Wonder Makuzha</dc:creator>
  <cp:lastModifiedBy>Kundai Wonder Makuzha</cp:lastModifiedBy>
  <cp:revision>1</cp:revision>
  <dcterms:created xsi:type="dcterms:W3CDTF">2025-11-21T17:44:06Z</dcterms:created>
  <dcterms:modified xsi:type="dcterms:W3CDTF">2025-11-21T19:12:04Z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